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65" y="5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4400" b="1">
                <a:solidFill>
                  <a:srgbClr val="4B2E2E"/>
                </a:solidFill>
                <a:latin typeface="EB Garamond"/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 sz="2000">
                <a:solidFill>
                  <a:srgbClr val="8C8C8C"/>
                </a:solidFill>
                <a:latin typeface="Segoe UI"/>
              </a:defRPr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DF0E-940A-14CE-4D4A-4679A3F10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959" y="367580"/>
            <a:ext cx="7772400" cy="1470025"/>
          </a:xfrm>
        </p:spPr>
        <p:txBody>
          <a:bodyPr/>
          <a:lstStyle/>
          <a:p>
            <a:r>
              <a:rPr lang="en-US" dirty="0"/>
              <a:t>Missouri Bark Field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FA070D-B6F3-1C30-FE82-8A56060F7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59" y="4030579"/>
            <a:ext cx="6400800" cy="1299410"/>
          </a:xfrm>
        </p:spPr>
        <p:txBody>
          <a:bodyPr/>
          <a:lstStyle/>
          <a:p>
            <a:r>
              <a:rPr lang="en-US" dirty="0">
                <a:latin typeface="Gill Sans Nova Cond XBd" panose="020F0502020204030204" pitchFamily="34" charset="0"/>
              </a:rPr>
              <a:t>An in-depth guide for enjoying Missouri bark</a:t>
            </a:r>
          </a:p>
        </p:txBody>
      </p:sp>
    </p:spTree>
    <p:extLst>
      <p:ext uri="{BB962C8B-B14F-4D97-AF65-F5344CB8AC3E}">
        <p14:creationId xmlns:p14="http://schemas.microsoft.com/office/powerpoint/2010/main" val="367909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F7584-DD3B-6ABA-C850-5006C328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Bark Safety ⚠️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65C07-072C-4EC4-3309-426B71A95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Important Safety Principles </a:t>
            </a:r>
          </a:p>
          <a:p>
            <a:r>
              <a:rPr lang="en-US" sz="2000" dirty="0"/>
              <a:t>Know your purpose:  Bark removal may be done for identification,  specimen collection,  art,  or insect inspection. NEVER STRIP BARK –it is the tree’s lifeline.</a:t>
            </a:r>
          </a:p>
          <a:p>
            <a:r>
              <a:rPr lang="en-US" sz="2000" dirty="0"/>
              <a:t>Target deadwood:  Collect from </a:t>
            </a:r>
            <a:r>
              <a:rPr lang="en-US" sz="2000" b="1" dirty="0"/>
              <a:t>fallen branches or dead trees </a:t>
            </a:r>
            <a:r>
              <a:rPr lang="en-US" sz="2000" dirty="0"/>
              <a:t>whenever possible to mitigate harm to healthy trees.</a:t>
            </a:r>
          </a:p>
          <a:p>
            <a:r>
              <a:rPr lang="en-US" sz="2000" dirty="0"/>
              <a:t>Limit live removal and never girdle the trunk</a:t>
            </a:r>
          </a:p>
          <a:p>
            <a:r>
              <a:rPr lang="en-US" sz="2000" dirty="0"/>
              <a:t>Protect yourself:  Wearing gloves and eye protection is advised to protect against splinters and insect bites.  </a:t>
            </a:r>
          </a:p>
        </p:txBody>
      </p:sp>
    </p:spTree>
    <p:extLst>
      <p:ext uri="{BB962C8B-B14F-4D97-AF65-F5344CB8AC3E}">
        <p14:creationId xmlns:p14="http://schemas.microsoft.com/office/powerpoint/2010/main" val="153919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AD6ED-9EE4-9F9E-6FAE-2191C156E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77563"/>
            <a:ext cx="7772400" cy="1274512"/>
          </a:xfrm>
        </p:spPr>
        <p:txBody>
          <a:bodyPr/>
          <a:lstStyle/>
          <a:p>
            <a:r>
              <a:rPr lang="en-US" dirty="0"/>
              <a:t>Missouri Hardwood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EF495-DA8F-49BE-552E-AA9AF56CC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828800"/>
            <a:ext cx="6400800" cy="4463716"/>
          </a:xfrm>
        </p:spPr>
        <p:txBody>
          <a:bodyPr>
            <a:normAutofit fontScale="925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White Oak (Quercus alba) </a:t>
            </a:r>
            <a:r>
              <a:rPr lang="en-US" sz="2400" dirty="0"/>
              <a:t>–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Missouri’s state tree;  valued for its strong, durable wood.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Northern Red Oak (Quercus rubra) </a:t>
            </a:r>
            <a:r>
              <a:rPr lang="en-US" sz="2400" dirty="0"/>
              <a:t>–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A common oak with reddish bark and acorns.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Shagbark Hickory (Carya ovata) </a:t>
            </a:r>
            <a:r>
              <a:rPr lang="en-US" sz="2400" dirty="0"/>
              <a:t>–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Recognizable by its peeling bark; produces edible nuts.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Black walnut (Juglans nigra) </a:t>
            </a:r>
            <a:r>
              <a:rPr lang="en-US" sz="2400" dirty="0"/>
              <a:t>–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Known for its dark wood and edible walnuts.</a:t>
            </a: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  <a:p>
            <a:pPr algn="l"/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  <a:p>
            <a:pPr algn="l"/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94246C-0ADE-439B-AB44-3390899BB3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83577" y="-129711"/>
            <a:ext cx="7253555" cy="711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542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F0399-9510-DCBA-0CE5-437E7AD01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Missouri Hardwood Trees continued..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E12B9-58A3-399D-C444-33C32180C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Sugar Maple (Acer saccharum) </a:t>
            </a:r>
            <a:r>
              <a:rPr lang="en-US" sz="2400" dirty="0"/>
              <a:t>–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Famous for its brilliant fall color and sap for maple syrup. </a:t>
            </a:r>
          </a:p>
          <a:p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American Elm (Ulmus americana) </a:t>
            </a:r>
            <a:r>
              <a:rPr lang="en-US" sz="2400" dirty="0"/>
              <a:t>–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Once widespread, though many have been lost to Dutch elm disease.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6E2AB-B65B-2009-EC22-E6BE589B4E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379495" y="2983831"/>
            <a:ext cx="3874169" cy="387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7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69A22-C5D1-69A4-49D7-C6489B4DF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49751"/>
            <a:ext cx="7772400" cy="1470025"/>
          </a:xfrm>
        </p:spPr>
        <p:txBody>
          <a:bodyPr/>
          <a:lstStyle/>
          <a:p>
            <a:r>
              <a:rPr lang="en-US" dirty="0"/>
              <a:t>Missouri Softwoods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B0F79-B2FA-40FF-5AA6-342797028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708484"/>
            <a:ext cx="6400800" cy="393031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Eastern Red Cedar (Juniperus virginiana) </a:t>
            </a:r>
            <a:r>
              <a:rPr lang="en-US" sz="2400" dirty="0"/>
              <a:t>–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Actually a juniper;  very common in fields and along fences.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Shortleaf Pine (Pinus echinata) </a:t>
            </a:r>
            <a:r>
              <a:rPr lang="en-US" sz="2400" dirty="0"/>
              <a:t>–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Missouri’s only native pine;  found mostly in the Ozarks.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0B9C7-B6B5-3451-56AC-1A4A68A731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331368" y="3928265"/>
            <a:ext cx="2851485" cy="275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27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376C-9ED6-A931-FF72-27822326F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49751"/>
            <a:ext cx="7772400" cy="1470025"/>
          </a:xfrm>
        </p:spPr>
        <p:txBody>
          <a:bodyPr/>
          <a:lstStyle/>
          <a:p>
            <a:r>
              <a:rPr lang="en-US" dirty="0"/>
              <a:t>Missouri Floodplain &amp; Bottomland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0D309-03F8-0717-513C-1C5329E53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379" y="2133599"/>
            <a:ext cx="6400800" cy="4374649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Sycamore (Platanus occidentalis) </a:t>
            </a:r>
            <a:r>
              <a:rPr lang="en-US" sz="2400" dirty="0"/>
              <a:t>–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Huge tree with mottled bark, common along rivers.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Cottonwood (Populus deltoids)</a:t>
            </a:r>
            <a:r>
              <a:rPr lang="en-US" sz="2400" dirty="0"/>
              <a:t> –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Fast-growing tree found near streams.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Silver Maple (Acer </a:t>
            </a:r>
            <a:r>
              <a:rPr lang="en-US" sz="2400" b="1" dirty="0" err="1">
                <a:solidFill>
                  <a:schemeClr val="bg2">
                    <a:lumMod val="25000"/>
                  </a:schemeClr>
                </a:solidFill>
              </a:rPr>
              <a:t>saccharinum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)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Tolerant of flooding,  with deeply cut leaves.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Black Willow (Salix nigra) </a:t>
            </a:r>
            <a:r>
              <a:rPr lang="en-US" sz="2400" dirty="0"/>
              <a:t>– 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Found along water, used for erosion control.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36FBAB-DE70-BAF7-95AF-B831B375BE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1636294" y="349751"/>
            <a:ext cx="5871411" cy="587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44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3F57F-B22C-B7FE-2E56-D51F0A594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89" y="484187"/>
            <a:ext cx="7772400" cy="1470025"/>
          </a:xfrm>
        </p:spPr>
        <p:txBody>
          <a:bodyPr/>
          <a:lstStyle/>
          <a:p>
            <a:r>
              <a:rPr lang="en-US" dirty="0"/>
              <a:t>Ornamental &amp; Wildlife-Friendly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947C8-DA0A-0479-16D7-251A71A51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5189" y="1954213"/>
            <a:ext cx="6400800" cy="4675188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Redbud (Cercis canadensis)</a:t>
            </a:r>
            <a:r>
              <a:rPr lang="en-US" sz="2400" dirty="0"/>
              <a:t> –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Small tree with pink spring blossoms.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Flowering Dogwood (</a:t>
            </a:r>
            <a:r>
              <a:rPr lang="en-US" sz="2400" b="1" dirty="0" err="1">
                <a:solidFill>
                  <a:schemeClr val="bg2">
                    <a:lumMod val="25000"/>
                  </a:schemeClr>
                </a:solidFill>
              </a:rPr>
              <a:t>Cornus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bg2">
                    <a:lumMod val="25000"/>
                  </a:schemeClr>
                </a:solidFill>
              </a:rPr>
              <a:t>florida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) </a:t>
            </a:r>
            <a:r>
              <a:rPr lang="en-US" sz="2400" dirty="0"/>
              <a:t>– 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Missouri’s state tree flower, known for white petals.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Persimmon (Diospyros virginiana) </a:t>
            </a:r>
            <a:r>
              <a:rPr lang="en-US" sz="2400" dirty="0"/>
              <a:t>–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Produces edible orange fruit.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Pawpaw (Asimina triloba)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Missouri’s “tropical” tree; produces custard-like fruit.</a:t>
            </a:r>
          </a:p>
          <a:p>
            <a:pPr algn="l"/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  <a:p>
            <a:pPr algn="l"/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300476-9226-CE46-6173-70C915A91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978" y="1430296"/>
            <a:ext cx="5835317" cy="169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82AEE2-310C-58B9-1670-93CF45E20E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1437773" y="866274"/>
            <a:ext cx="5991726" cy="599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09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4AC9B-74AA-4E53-05C3-20607FC91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421" y="325689"/>
            <a:ext cx="7772400" cy="1470025"/>
          </a:xfrm>
        </p:spPr>
        <p:txBody>
          <a:bodyPr/>
          <a:lstStyle/>
          <a:p>
            <a:r>
              <a:rPr lang="en-US" dirty="0"/>
              <a:t>Nutritional Value of Missouri Bark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737AF-ADDC-BE8C-F848-B2CE388C9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7221" y="2033336"/>
            <a:ext cx="6400800" cy="4644189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Inner bark (cambium layer), not the rough outer bark, is the edible portion.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Provides Carbohydrates, fiber, vitamins, and secondary compounds (tannins, resins, salicylates).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Historically used by Native American tribes in Missouri as both food and medicine.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Bark is rarely eaten raw — usually dried, ground, or boiled into teas </a:t>
            </a:r>
          </a:p>
        </p:txBody>
      </p:sp>
    </p:spTree>
    <p:extLst>
      <p:ext uri="{BB962C8B-B14F-4D97-AF65-F5344CB8AC3E}">
        <p14:creationId xmlns:p14="http://schemas.microsoft.com/office/powerpoint/2010/main" val="2217200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E1D7-71F5-4A0C-E978-562956B84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1468"/>
            <a:ext cx="7772400" cy="1470025"/>
          </a:xfrm>
        </p:spPr>
        <p:txBody>
          <a:bodyPr/>
          <a:lstStyle/>
          <a:p>
            <a:r>
              <a:rPr lang="en-US" dirty="0"/>
              <a:t>Further Nutritional Information..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EF951-2E68-4CD2-552E-AB8C16E46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576137"/>
            <a:ext cx="6400800" cy="4584031"/>
          </a:xfrm>
        </p:spPr>
        <p:txBody>
          <a:bodyPr>
            <a:normAutofit fontScale="925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White Oak &amp; Northern Red Oak can be dried and ground into make-shift flower.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White Oak bark teas can be used for astringent medicinal purposes.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Shagbark Hickory bark can be chewed for quick energy.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Hickory bark can be boiled into flavor syrups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American Elm can be used to make mucilage starch.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Eastern Red Cedar can be used for kindling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Cottonwood bark can be used to create Salicin (aspirin-like compound)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Flowering Dogwood Bark can be used as a quinine substitute.</a:t>
            </a:r>
          </a:p>
        </p:txBody>
      </p:sp>
    </p:spTree>
    <p:extLst>
      <p:ext uri="{BB962C8B-B14F-4D97-AF65-F5344CB8AC3E}">
        <p14:creationId xmlns:p14="http://schemas.microsoft.com/office/powerpoint/2010/main" val="3268508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AE4F7C-156B-623F-60FE-D6EEBA223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2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EB Garamond</vt:lpstr>
      <vt:lpstr>Gill Sans Nova Cond XBd</vt:lpstr>
      <vt:lpstr>Segoe UI</vt:lpstr>
      <vt:lpstr>Office Theme</vt:lpstr>
      <vt:lpstr>Missouri Bark Field Guide</vt:lpstr>
      <vt:lpstr>Bark Safety ⚠️</vt:lpstr>
      <vt:lpstr>Missouri Hardwood Trees</vt:lpstr>
      <vt:lpstr>Missouri Hardwood Trees continued..</vt:lpstr>
      <vt:lpstr>Missouri Softwoods</vt:lpstr>
      <vt:lpstr>Missouri Floodplain &amp; Bottomland Trees</vt:lpstr>
      <vt:lpstr>Ornamental &amp; Wildlife-Friendly</vt:lpstr>
      <vt:lpstr>Nutritional Value of Missouri Bark</vt:lpstr>
      <vt:lpstr>Further Nutritional Information..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Demitri Roberts</dc:creator>
  <cp:keywords/>
  <dc:description>generated using python-pptx</dc:description>
  <cp:lastModifiedBy>Demitri Roberts</cp:lastModifiedBy>
  <cp:revision>6</cp:revision>
  <dcterms:created xsi:type="dcterms:W3CDTF">2013-01-27T09:14:16Z</dcterms:created>
  <dcterms:modified xsi:type="dcterms:W3CDTF">2025-09-19T15:21:30Z</dcterms:modified>
  <cp:category/>
</cp:coreProperties>
</file>